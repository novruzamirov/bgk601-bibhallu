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Örnek</c:v>
                </c:pt>
              </c:strCache>
            </c:strRef>
          </c:tx>
          <c:spPr>
            <a:solidFill>
              <a:srgbClr val="FF6B6B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H1</c:v>
                  </c:pt>
                  <c:pt idx="1">
                    <c:v>H2</c:v>
                  </c:pt>
                  <c:pt idx="2">
                    <c:v>H3</c:v>
                  </c:pt>
                  <c:pt idx="3">
                    <c:v>H4</c:v>
                  </c:pt>
                  <c:pt idx="4">
                    <c:v>H5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60</c:v>
                </c:pt>
                <c:pt idx="2">
                  <c:v>60</c:v>
                </c:pt>
                <c:pt idx="3">
                  <c:v>40</c:v>
                </c:pt>
                <c:pt idx="4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E2761"/>
                </a:solidFill>
                <a:latin typeface="Arial"/>
              </a:rPr>
              <a:t>F1 Skoru — RAG'sız vs RAG'lı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RAG'sız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Llama 3.1-8B</c:v>
                  </c:pt>
                  <c:pt idx="1">
                    <c:v>Qwen2.5-7B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0.56</c:v>
                </c:pt>
                <c:pt idx="1">
                  <c:v>0.071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RAG'lı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Llama 3.1-8B</c:v>
                  </c:pt>
                  <c:pt idx="1">
                    <c:v>Qwen2.5-7B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0.792</c:v>
                </c:pt>
                <c:pt idx="1">
                  <c:v>0.48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Makalelerinde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Bibliyografya Halüsinasyonlarının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Tabanlı Tespiti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Modelli Karşılaştırmalı Değerlendirme ve RAG Ablasyonu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74320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Novruz Amirov (707241004)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1663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Teknik Üniversitesi · Siber Güvenlik Mühendisliği ve Kriptografi Ana Bilim Dalı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Koordinatörü: Prof. Dr. Kemal Bıçakçı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Bilgi Güvenliği Alanında Makine Öğrenmesi Yöntemleri · Bahar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Motivasyon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destekli akademik üretim, var olmayan veya hatalı bibliyografya atıflarını yaygınlaştırdı.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3200400" cy="137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%55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bibliyografyalarında en az bir alan hatası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011680"/>
            <a:ext cx="3200400" cy="13716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860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%47–73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metinlerde uydurma referans oranı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201168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2011680"/>
            <a:ext cx="320040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22860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%0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77824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DOI denetleyiciler semantik hatayı yakalayabiliyor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Semantik düzeyde, ölçeklenebilir bir LLM tabanlı tespit hattına ihtiyaç var.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Walters &amp; Wilder (2023), Bhattacharyya ve ark. (2023), Athaluri ve ark. (2023).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Halüsinasyon Kategorileri (H1–H5)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37160" cy="2468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Olmayan Referans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tarafından üretilmiş, hiç yayımlanmamış makale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280160"/>
            <a:ext cx="137160" cy="246888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Halüsinasyonu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olan makale; yanlış yazar / yıl / dergi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280160"/>
            <a:ext cx="137160" cy="2468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41248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Semantik Uyumsuzluk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makale; atıf bağlamıyla anlamsal ilgisiz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402336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77440" y="4023360"/>
            <a:ext cx="137160" cy="2468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65176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Kronolojik Halüsinasyon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51760" y="5394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İmkânsız tarih (gelecek veya teknolojiden önce)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4023360"/>
            <a:ext cx="137160" cy="2468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9224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Referans (Negatif)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5394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alanlar doğrulanmış; halüsinasyon yok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Senaryoları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943600"/>
                <a:gridCol w="40233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Başarı Kriteri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20-referanslı bibliyografya doğrulama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≥ 0.80 doğrulama başarısı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CrossRef DOI'li ama yanlış yazarlı referans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hata tespiti ≥ %85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Yanlış dergiye atfedilmiş gerçek makale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Yayın yeri tespiti ≥ %80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Makale içeriğiyle ilgisiz atıf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Semantik uyum skoru &lt; 0.5 için uyarı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metadata doğru ama yıl hatalı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Yıl hatası ≥ %90 doğruluk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senaryo, projenin değerlendirme rubriğindeki F1 hedef eşikleriyle eşlenmiştir.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Yaklaşımların Yetersizliği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Doğrulama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29184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Yavaş, ölçeklenmiyor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İnsan uzman yargısı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2801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36008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DOI/URL Kontrolü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36008" y="2103120"/>
            <a:ext cx="329184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Anlam düzeyindeki hatayı (H2/H3) göremez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Otomatik, hızlı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66176" y="12801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40496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Ticari Araçlar (örn. GPTZero)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540496" y="2103120"/>
            <a:ext cx="329184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Var olan referansın bağlam uyumunu ölçemez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0496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Kapalı iddia düzeyinde kaynak önerisi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boşluk semantik anlama dayalı çok-katmanlı LLM tabanlı bir tespit ihtiyacı doğurur.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20116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GİRDİ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Bibliyografya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dizgesi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3154680"/>
            <a:ext cx="274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17520" y="2103120"/>
            <a:ext cx="22860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2103120"/>
            <a:ext cx="2286000" cy="4572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CHRC.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3-run majority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49240" y="3154680"/>
            <a:ext cx="274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0" y="2103120"/>
            <a:ext cx="22860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2103120"/>
            <a:ext cx="22860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3.1-8B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3154680"/>
            <a:ext cx="274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2103120"/>
            <a:ext cx="22860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2103120"/>
            <a:ext cx="22860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(opt.)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 korpus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4663440"/>
            <a:ext cx="576072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4754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51206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{"hallucination": true/false, "confidence": 0.0–1.0, "type": "H1|H2|H3|H4|none", "reason": "..."}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Veri Kümesi (300 örnek)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Dağılımı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İnşa Süreci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17373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CrossRef API + 20 tohum makale ve 400+ gerçek kayıt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Construction'dan-bilinen ground-truth ile H1-H5 üretimi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annotation_tool.py ile her örnek elle insan onayı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Sınıf dengesi: %80 pozitif / %20 negatif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Zorluk etiketi: K / O / Z dengeli dağılım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5486400"/>
            <a:ext cx="54864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55321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otomatik etiketleme ground-truth olarak KULLANILMADI.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Kriterleri ve Ağırlıklar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029200"/>
                <a:gridCol w="16459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Yöntemi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 Doğruluk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F1, Precision, 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Halüsinasyon Alt-Tür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kategori bazında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Katkısı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ile/RAG'sız ablasyon (ΔF1)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Yanıt Tutarlılığı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bağımsız çalıştırma (Fleiss κ)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 Etkinliği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/ doğru karar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Gecikme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 / p95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ağırlık: %100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Portföyü: 4 Model, 2 Tür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828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Closed-source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Maliyet: $0.005/1K tok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280160"/>
            <a:ext cx="182880" cy="2194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463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7512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Closed-source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Maliyet: $0.0006/1K tok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49040"/>
            <a:ext cx="182880" cy="219456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31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3.1-8B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Open-source (Ollama)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Maliyet: $0 (yerel)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7490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749040"/>
            <a:ext cx="182880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931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7512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· Open-source (Ollama)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Maliyet: $0 (yerel)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modeller Apple M2 Pro · 16 GB birleşik bellek · Q4_K_M nicemleme ile çalıştırıldı.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Protokolü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828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51760" y="12801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Sıcaklık (temperature) 0 — deterministik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1828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933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199339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örnek 3 bağımsız çalıştırma · çoğunluk kararı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06624"/>
            <a:ext cx="1828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0662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706624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Yapılandırılmış çıktı zorlanır (json_object / format=json)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828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198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3419856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benchmark üzerinde değerlendirme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133088"/>
            <a:ext cx="1828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330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Fleiss 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51760" y="413308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Çalıştırmalar arası tutarlılık (Cohen κ değil)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828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46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51760" y="48463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için %95 GA · 2000 örnekleme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559552"/>
            <a:ext cx="1828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55955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51760" y="555955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Eşli model karşılaştırması, χ² (df=1)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Mimarisi (CrossRef → ChromaDB)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KORPUS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konu sorgusu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gerçek makale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2926080"/>
            <a:ext cx="274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EMBEDDING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vektör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2926080"/>
            <a:ext cx="274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371600"/>
            <a:ext cx="25603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VECTOR 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01168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+ cosine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depolama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5400" y="2926080"/>
            <a:ext cx="274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371600"/>
            <a:ext cx="25603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RETRIEVAL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0" y="201168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top-k=4 yakın kayıt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prompt'a enjekte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937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fikir: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tabanında yakın kayıt bulunamazsa (düşük cosine benzerliği) → referans muhtemelen uydurma (H1). Yüksek başlık-eşleşmesi + metadata uyumsuzluğu → H2/H4.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Sonuçlar: 4 Model · 300 Örnek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828800"/>
                <a:gridCol w="1371600"/>
                <a:gridCol w="1371600"/>
                <a:gridCol w="2560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/ doğru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4663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GPT-4o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0749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0.911 (lider)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farkı tümüne karşı p &lt; 0.001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457200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85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4663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GPT-4o-mini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80560" y="50749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0.862 · 8× daha ucuz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Bütçe-duyarlı senaryolar için tercih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38160" y="457200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0" y="4663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Qwen2.5-7B (RAG'sız)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21040" y="50749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0.071 · Recall 0.037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"Halüsinasyon yok" deyip her şeyi onaylıyor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Ablasyonu: En Güçlü Bulgu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64008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F1 kazanımı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0" y="1920240"/>
            <a:ext cx="4572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3.1-8B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0" y="23317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+0.231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498080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Hedefin 4.6 katı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3749040"/>
            <a:ext cx="4572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4160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+0.409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749808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Hedefin 8.2 katı — 0.071 → 0.480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5669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paired test — Llama: p &lt; 0.001 (b=38, c=95) · Qwen: p &lt; 0.001 (b=4, c=69)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Bazında F1 (H1–H5)</a:t>
            </a:r>
            <a:endParaRPr lang="en-US" sz="2800" dirty="0"/>
          </a:p>
        </p:txBody>
      </p:sp>
      <p:pic>
        <p:nvPicPr>
          <p:cNvPr id="4" name="Image 0" descr="/sessions/confident-ecstatic-galileo/mnt/outputs/bgk601-bibhallu/results/figures/category_f1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3152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Beklenmedik bulgu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46720" y="17373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(semantik uyumsuzluk)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kapalı modeller için en kolay kategori oldu (0.94–0.95).
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raporun tersine, 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ölçek gürültüsü
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modellerin H1 (uydurma) zaafı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0" y="43891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 H1 F1 = 0.038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 H1 F1 = 0.000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ile bu zaaf doğrudan adreslenir.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 Anlamlılık (McNemar)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914400"/>
                <a:gridCol w="914400"/>
                <a:gridCol w="118872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Karşılaştırma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↔ GPT-4o-mini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↔ Llama 3.1-8B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&lt;10⁻⁴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↔ Qwen2.5-7B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&lt;10⁻⁴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↔ Llama 3.1-8B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&lt;10⁻⁴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↔ Qwen2.5-7B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&lt;10⁻⁴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 ↔ Qwen2.5-7B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&lt;10⁻⁴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pairwise farklar p &lt; 0.01 düzeyinde anlamlı. Fleiss κ (3 çalıştırma) tüm modellerde 0.90 — 1.00 aralığında.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Analizi (Stage 1 baseline)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8288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46/300 (%15)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463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over-flag (false positive %70) · format-takıntılı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182880" cy="105156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67/300 (%22)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6517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ve H5'te hata; küçük modelde "var olma" güveni düşük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57600"/>
            <a:ext cx="182880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3.1-8B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149/300 (%49)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840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H1 %96 kaçırma — "iyi formatlı → gerçek" varsayımı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846320"/>
            <a:ext cx="182880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349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234/300 (%78)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5029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%97'sinde "hallucination: false" diyor; tam susgunluk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Maliyet–Başarım Dengesi</a:t>
            </a:r>
            <a:endParaRPr lang="en-US" sz="2800" dirty="0"/>
          </a:p>
        </p:txBody>
      </p:sp>
      <p:pic>
        <p:nvPicPr>
          <p:cNvPr id="4" name="Image 0" descr="/sessions/confident-ecstatic-galileo/mnt/outputs/bgk601-bibhallu/results/figures/cost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3152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önü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46720" y="17830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Açık kaynak modeller x=$0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RAG'lı Llama F1 = 0.792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$0 maliyetle GPT-4o-mini'ye 0.07 fark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46720" y="3840480"/>
            <a:ext cx="38404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mesaj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0" y="4297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/ hassas veri senaryolarında, açık kaynak + RAG yaklaşık %87 performans bandında çalışır.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Model Hangi Koşulda?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Hassasiyet · Küçük Hacim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F1=0.911 · $0.0020/karar · İnsan denetimine aday liste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Hacim · Bütçe Kısıtlı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828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F1=0.862 · 8× daha ucuz · 100k referans → ~$6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57600"/>
            <a:ext cx="5394960" cy="4572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· Hassas Veri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3.1-8B + RAG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48006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F1=0.792 · API'ye veri sızmadan · sıfır marjinal maliyet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657600"/>
            <a:ext cx="539496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657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Kullanma — RAG'sız Qwen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(yalnız)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48006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F1=0.071 · neredeyse rastgele · yalnız RAG ile değerli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Sınırlamalar ve Gelecek Çalışmalar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Sınırlamalar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İngilizce ve ML / siber güvenlik alanında yoğun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korpusu CrossRef ile sınırlı (~400 makale)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 deterministik ayar — sıcaklık etkisi araştırılmadı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kategori tüm hata türlerini kapsamıyor (örn. sayfa, DOI)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tip atfını bozdu (binary detect ↑, type classify ↓)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Çalışmalar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 ince ayarı (500+ örnekli H1-H5 etiketli veri)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dilli benchmark (TR, DE, ZH)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Adaptif retrieval — model kendi karar verir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+ self-consistency prompt mühendisliği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İnsan-makine işbirliği akıllı şüphe kuyruğu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BGK601 · Bibliyografya Halüsinasyonu Tespiti · Novruz Amirov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 &amp; Canlı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274320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 Bileşenleri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Aynı referans üzerinde GPT-4o vs Llama 3.1-8B + RAG canlı karşılaştırma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retrieval'ın top-4 sonucu — semantik benzerlik skorları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300-örnekli benchmark üzerinde sonuç dashboard'u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Tek bir uydurma referansın H1 olarak yakalanışı (RAG ile)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github.com/novruzamirov/bgk601-bibhallu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Novruz Amirov · ITU · BGK601 · Bahar 2025–2026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Istanbul Teknik Universitesi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BGK601 Final Sunum</dc:title>
  <dc:subject>PptxGenJS Presentation</dc:subject>
  <dc:creator>Novruz Amirov</dc:creator>
  <cp:lastModifiedBy>Novruz Amirov</cp:lastModifiedBy>
  <cp:revision>1</cp:revision>
  <dcterms:created xsi:type="dcterms:W3CDTF">2026-05-29T06:05:29Z</dcterms:created>
  <dcterms:modified xsi:type="dcterms:W3CDTF">2026-05-29T06:05:29Z</dcterms:modified>
</cp:coreProperties>
</file>